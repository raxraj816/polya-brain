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29125" cy="2233538"/>
          </a:xfrm>
          <a:prstGeom prst="rect">
            <a:avLst/>
          </a:prstGeom>
          <a:solidFill>
            <a:srgbClr val="0B1215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29716"/>
            <a:ext cx="38576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POLYABRAIN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826219"/>
            <a:ext cx="3857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0E1DD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Core Architecture Overview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71500" y="1454869"/>
            <a:ext cx="3857625" cy="7786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54869"/>
            <a:ext cx="21431" cy="778669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490588"/>
            <a:ext cx="37147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PROJECT: REAL INTELLIGENCE v1.0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14375" y="1676326"/>
            <a:ext cx="37147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SPEC: PÓLYA REASONING ENGINE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4375" y="1862063"/>
            <a:ext cx="37147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AUTHOR: MANUS AI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14375" y="2047801"/>
            <a:ext cx="37147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DATE: 2026.05.25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3999133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618353"/>
            <a:ext cx="3086100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9-ENGINE FRAMEWORK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248789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14388" y="1248789"/>
            <a:ext cx="149304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Problem Representation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1505964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14388" y="1505964"/>
            <a:ext cx="149304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Knowledge Gap Detector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1763139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14388" y="1763139"/>
            <a:ext cx="149304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Research &amp; Acquisition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" y="2020314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14388" y="2020314"/>
            <a:ext cx="128944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Evidence Evaluation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1500" y="2277489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14388" y="2277489"/>
            <a:ext cx="149304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Reasoning &amp; Hypothesis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1500" y="2534664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14388" y="2534664"/>
            <a:ext cx="1085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Execution Engine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1500" y="2791839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14388" y="2791839"/>
            <a:ext cx="128944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Verification Engine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1500" y="3049014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14388" y="3049014"/>
            <a:ext cx="142517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Reflection &amp; Learning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71500" y="3306189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09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14388" y="3306189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Memory System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086225" y="428625"/>
            <a:ext cx="4629150" cy="30539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Stateful Orchestration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086225" y="876895"/>
            <a:ext cx="46291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PolyaBrain's cognitive processes are coordinated by </a:t>
            </a:r>
            <a:r>
              <a:rPr lang="en-US" sz="950" dirty="0">
                <a:solidFill>
                  <a:srgbClr val="58815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LangGraph</a:t>
            </a: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enabling a </a:t>
            </a: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stateful, cyclic problem-solving loop that mirrors human reasoning.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229100" y="1502643"/>
            <a:ext cx="4486275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Iterative Refinement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229100" y="1636588"/>
            <a:ext cx="44862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System automatically re-routes state between engines if verification fails or new gaps emerge.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229100" y="2359502"/>
            <a:ext cx="4486275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815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Modular Scaling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229100" y="2493448"/>
            <a:ext cx="44862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engine is a specialized agent, allowing for independent optimization and domain-specific fine-tuning.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61228"/>
            <a:ext cx="371475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PROBLEM REPRESENTATION ENGINE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661340"/>
            <a:ext cx="225028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2247" y="1650625"/>
            <a:ext cx="331112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Semantic Parsing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32247" y="1897084"/>
            <a:ext cx="33111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Translates raw natural language, equations, or logic into a structured, computable format.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465012"/>
            <a:ext cx="225028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2247" y="2454297"/>
            <a:ext cx="331112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Entity &amp; Relationship Mapping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832247" y="2700756"/>
            <a:ext cx="33111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Identifies core actors, variables, and their interdependencies within the problem space.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77" y="3268684"/>
            <a:ext cx="200025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2376" y="3257969"/>
            <a:ext cx="330099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Constraint Discovery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842376" y="3504428"/>
            <a:ext cx="33009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Explicitly captures all stated and implied boundaries to ensure solution validity.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4572000" y="0"/>
            <a:ext cx="4572000" cy="2450976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4" name="Text 8"/>
          <p:cNvSpPr/>
          <p:nvPr/>
        </p:nvSpPr>
        <p:spPr>
          <a:xfrm>
            <a:off x="5000625" y="571500"/>
            <a:ext cx="3714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TARGET OUTPUT SCHEMA [V1.0]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5000625" y="810816"/>
            <a:ext cx="3714750" cy="1068660"/>
          </a:xfrm>
          <a:prstGeom prst="rect">
            <a:avLst/>
          </a:prstGeom>
          <a:solidFill>
            <a:srgbClr val="0B1215"/>
          </a:solidFill>
          <a:ln/>
        </p:spPr>
      </p:sp>
      <p:sp>
        <p:nvSpPr>
          <p:cNvPr id="16" name="Shape 10"/>
          <p:cNvSpPr/>
          <p:nvPr/>
        </p:nvSpPr>
        <p:spPr>
          <a:xfrm>
            <a:off x="5000625" y="810816"/>
            <a:ext cx="28575" cy="1068660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17" name="Text 11"/>
          <p:cNvSpPr/>
          <p:nvPr/>
        </p:nvSpPr>
        <p:spPr>
          <a:xfrm>
            <a:off x="5000625" y="810816"/>
            <a:ext cx="3714750" cy="1068660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{ "problem_id": "PB-882", "entities": ["A", "B", "C"], "constraints": [ "A &gt; B", "B + C = 100", "Non-negative" ], "goal": "Optimize(A * C)", "state": "UNRESOLVED" }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8353"/>
            <a:ext cx="8229600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KNOWLEDGE GAP DETECTOR: IDENTIFYING THE UNKNOWN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858547" y="1641695"/>
            <a:ext cx="5500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3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281" y="2254272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65628" y="2652536"/>
            <a:ext cx="153590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REQUIREMENT ANALYSIS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057275" y="2929356"/>
            <a:ext cx="215264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Extracts necessary facts, procedures, and data points from the formalized problem representation.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296938" y="1641695"/>
            <a:ext cx="5500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3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960" y="2254272"/>
            <a:ext cx="200025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19212" y="2652536"/>
            <a:ext cx="1305520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MEMORY COMPARISON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3495666" y="2929356"/>
            <a:ext cx="215264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Queries Semantic and Episodic memory to determine which requirements are already satisfied.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6735328" y="1641695"/>
            <a:ext cx="5500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3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063" y="2254272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19205" y="2652536"/>
            <a:ext cx="1382316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GAP PRIORITIZATION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934056" y="2929356"/>
            <a:ext cx="215264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Identifies missing information and ranks gaps by their criticality to the problem-solving outcome.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2696766" y="3872331"/>
            <a:ext cx="3750469" cy="289322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58815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696766" y="3872331"/>
            <a:ext cx="3750469" cy="28932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MECHANISM: VECTOR SIMILARITY &amp; GRAPH TRAVERSAL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61228"/>
            <a:ext cx="4171950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RESEARCH &amp; ACQUISITION ENGINE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23" y="1359517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1039" y="1348801"/>
            <a:ext cx="378953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Query Formulation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11039" y="1595261"/>
            <a:ext cx="3789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Translates identified knowledge gaps into optimized search parameters </a:t>
            </a: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for APIs like </a:t>
            </a:r>
            <a:r>
              <a:rPr lang="en-US" sz="850" dirty="0">
                <a:solidFill>
                  <a:srgbClr val="E0E1D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Tavily</a:t>
            </a: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r>
              <a:rPr lang="en-US" sz="850" dirty="0">
                <a:solidFill>
                  <a:srgbClr val="E0E1D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SerpAPI</a:t>
            </a: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198908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7244" y="2188192"/>
            <a:ext cx="37933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Smart Content Extraction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807244" y="2434651"/>
            <a:ext cx="3793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Utilizes robust scrapers to extract structured data from diverse web sources while filtering out boilerplate and noise.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87" y="3038298"/>
            <a:ext cx="150019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6361" y="3027583"/>
            <a:ext cx="380421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Real-time Data Integration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796361" y="3274042"/>
            <a:ext cx="38042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Enables the system to solve problems involving recent events or niche technical data not present in training sets.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5029200" y="0"/>
            <a:ext cx="4114800" cy="2531008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4" name="Text 8"/>
          <p:cNvSpPr/>
          <p:nvPr/>
        </p:nvSpPr>
        <p:spPr>
          <a:xfrm>
            <a:off x="5457825" y="571500"/>
            <a:ext cx="32575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INFORMATION FLOW [ACQ-01]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5457825" y="810816"/>
            <a:ext cx="3257550" cy="1148693"/>
          </a:xfrm>
          <a:prstGeom prst="rect">
            <a:avLst/>
          </a:prstGeom>
          <a:solidFill>
            <a:srgbClr val="0B1215"/>
          </a:solidFill>
          <a:ln/>
        </p:spPr>
      </p:sp>
      <p:sp>
        <p:nvSpPr>
          <p:cNvPr id="16" name="Shape 10"/>
          <p:cNvSpPr/>
          <p:nvPr/>
        </p:nvSpPr>
        <p:spPr>
          <a:xfrm>
            <a:off x="5457825" y="810816"/>
            <a:ext cx="28575" cy="1148693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17" name="Text 11"/>
          <p:cNvSpPr/>
          <p:nvPr/>
        </p:nvSpPr>
        <p:spPr>
          <a:xfrm>
            <a:off x="5457825" y="810816"/>
            <a:ext cx="3257550" cy="1148693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7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GAP_ID: KG-402 QUERY: "latest rust async traits" SOURCE: docs.rs, github.com STATUS: EXTRACTING... [||||||||||||||||||] 100% RESULT: Structured_Markdown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61228"/>
            <a:ext cx="3714750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EVIDENCE EVALUATION ENGINE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" y="1361303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5813" y="1348801"/>
            <a:ext cx="208240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Credibility Assessment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28625" y="1627408"/>
            <a:ext cx="3714750" cy="342900"/>
          </a:xfrm>
          <a:prstGeom prst="rect">
            <a:avLst/>
          </a:prstGeom>
          <a:noFill/>
          <a:ln/>
        </p:spPr>
        <p:txBody>
          <a:bodyPr wrap="square" lIns="425196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Rigorously evaluates source authority, publication dates, and citation density to assign confidence scores.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72" y="2232840"/>
            <a:ext cx="150019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5813" y="2220339"/>
            <a:ext cx="170378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Consistency Checks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28625" y="2498945"/>
            <a:ext cx="3714750" cy="342900"/>
          </a:xfrm>
          <a:prstGeom prst="rect">
            <a:avLst/>
          </a:prstGeom>
          <a:noFill/>
          <a:ln/>
        </p:spPr>
        <p:txBody>
          <a:bodyPr wrap="square" lIns="425196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Cross-references new data with existing internal knowledge to detect and resolve logical contradictions.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" y="3104378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5813" y="3091876"/>
            <a:ext cx="160913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Relevance Scoring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28625" y="3370483"/>
            <a:ext cx="3714750" cy="342900"/>
          </a:xfrm>
          <a:prstGeom prst="rect">
            <a:avLst/>
          </a:prstGeom>
          <a:noFill/>
          <a:ln/>
        </p:spPr>
        <p:txBody>
          <a:bodyPr wrap="square" lIns="425196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Ensures acquired information directly addresses the identified knowledge gaps and the core problem.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4572000" y="0"/>
            <a:ext cx="4572000" cy="3071813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4" name="Text 8"/>
          <p:cNvSpPr/>
          <p:nvPr/>
        </p:nvSpPr>
        <p:spPr>
          <a:xfrm>
            <a:off x="5000625" y="571500"/>
            <a:ext cx="3714750" cy="2107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SCORING HEURISTICS [V1.0]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5286375" y="1025128"/>
            <a:ext cx="3643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[H-01]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5757863" y="1025128"/>
            <a:ext cx="236815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Domain Authority Verification (DA &gt; 70)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5286375" y="1300163"/>
            <a:ext cx="3643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[H-02]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757863" y="1300163"/>
            <a:ext cx="230743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Temporal Relevance Check (Date &lt; 24mo)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5286375" y="1575197"/>
            <a:ext cx="3643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[H-03]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5757863" y="1575197"/>
            <a:ext cx="206454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Cross-Source Corroboration (N &gt; 2)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5286375" y="1850231"/>
            <a:ext cx="3643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[H-04]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5757863" y="1850231"/>
            <a:ext cx="24288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Semantic Alignment Score (Cosine &gt; 0.85)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5286375" y="2125266"/>
            <a:ext cx="3643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B18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[H-05]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5757863" y="2125266"/>
            <a:ext cx="273248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Contradiction Conflict Resolution (Auto-Flag)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61228"/>
            <a:ext cx="3714750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REASONING ENGINE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348801"/>
            <a:ext cx="410766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17984" y="1348801"/>
            <a:ext cx="312539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First-Principles Planning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17984" y="1595261"/>
            <a:ext cx="31253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Decomposes complex problems into atomic, logical steps grounded in validated evidence and constraints.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8625" y="2188192"/>
            <a:ext cx="410766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17984" y="2188192"/>
            <a:ext cx="312539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Hypothesis Generation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17984" y="2434651"/>
            <a:ext cx="31253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Formulates multiple potential solution paths and evaluates them against problem goals.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3027583"/>
            <a:ext cx="410766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17984" y="3027583"/>
            <a:ext cx="312539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Constraint Logic Integration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17984" y="3274042"/>
            <a:ext cx="31253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Ensures every step of the plan adheres to the boundaries defined during problem representation.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0" y="0"/>
            <a:ext cx="4572000" cy="2553891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4" name="Text 11"/>
          <p:cNvSpPr/>
          <p:nvPr/>
        </p:nvSpPr>
        <p:spPr>
          <a:xfrm>
            <a:off x="5229225" y="571500"/>
            <a:ext cx="34861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PROCEDURAL MEMORY INTEGRATION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229225" y="846534"/>
            <a:ext cx="348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Reasoning Engine queries the Graph Database to retrieve proven strategies and heuristics for the specific problem class.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229225" y="1403747"/>
            <a:ext cx="1625203" cy="217884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RECURSIVE_DECOMPOSITION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954441" y="1403747"/>
            <a:ext cx="1260872" cy="217884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BACKWARD_CHAINING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229225" y="1693069"/>
            <a:ext cx="1625203" cy="217884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CONSTRAINT_SATISFACTION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954441" y="1693069"/>
            <a:ext cx="1200150" cy="217884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HEURISTIC_SEARCH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4146138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761228"/>
            <a:ext cx="3714750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EXECUTION ENGINE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47003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1234501"/>
            <a:ext cx="160913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SECURE SANDBOXING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42950" y="1527395"/>
            <a:ext cx="3400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Isolated Docker/Firecracker environments for safe code execution.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42950" y="2024555"/>
            <a:ext cx="3400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Support for Python-based mathematical and logical computations.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42950" y="2521716"/>
            <a:ext cx="3400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Strict resource limits and network isolation for security.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64356" y="1527395"/>
            <a:ext cx="7679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&gt;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64356" y="2024555"/>
            <a:ext cx="7679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&gt;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64356" y="2521716"/>
            <a:ext cx="7679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&gt;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911385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2950" y="2898884"/>
            <a:ext cx="15144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TOOL INTEGRATION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42950" y="3191777"/>
            <a:ext cx="3400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Registry of specialized APIs and computational tools.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742950" y="3483220"/>
            <a:ext cx="3400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Dynamic tool selection based on plan requirements.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64356" y="3191777"/>
            <a:ext cx="7679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&gt;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64356" y="3483220"/>
            <a:ext cx="7679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&gt;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000625" y="761228"/>
            <a:ext cx="3714750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VERIFICATION ENGINE</a:t>
            </a:r>
            <a:endParaRPr lang="en-US" sz="16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1247003"/>
            <a:ext cx="171450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14950" y="1234501"/>
            <a:ext cx="18930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AUTOMATED VALIDATION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314950" y="1527395"/>
            <a:ext cx="3400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Semantic checking of outputs against original problem constraints.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314950" y="2024555"/>
            <a:ext cx="3400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Automated test case generation for edge-case validation.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314950" y="2315998"/>
            <a:ext cx="3400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Search for counter-examples to disprove faulty hypotheses.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136356" y="1527395"/>
            <a:ext cx="7679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&gt;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136356" y="2024555"/>
            <a:ext cx="7679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&gt;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136356" y="2315998"/>
            <a:ext cx="7679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&gt;</a:t>
            </a:r>
            <a:endParaRPr lang="en-US" sz="9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2911385"/>
            <a:ext cx="171450" cy="17145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14950" y="2898884"/>
            <a:ext cx="132516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ITERATIVE LOOP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314950" y="3191777"/>
            <a:ext cx="34004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Immediate trigger of replanning loop upon verification failure.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5314950" y="3688938"/>
            <a:ext cx="3400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Root cause feedback provided to the Reasoning Engine.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000625" y="4066105"/>
            <a:ext cx="3714750" cy="22502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SYSTEM STATUS: VERIFYING SOLUTION...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136356" y="3191777"/>
            <a:ext cx="7679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&gt;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5136356" y="3688938"/>
            <a:ext cx="7679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&gt;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18353"/>
            <a:ext cx="8229600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HYBRID MEMORY HIERARCHY: SUPPORTING CONTINUOUS LEARNING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458497" y="1427383"/>
            <a:ext cx="5500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3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56" y="2041745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7016" y="2540022"/>
            <a:ext cx="13930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SEMANTIC MEMORY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2836487"/>
            <a:ext cx="25526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Stores factual knowledge, concepts, and definitions as high-dimensional embeddings for rapid retrieval.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042374" y="3599390"/>
            <a:ext cx="1382316" cy="260747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VECTOR DB: PINECONE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296938" y="1427383"/>
            <a:ext cx="5500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3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38" y="2041745"/>
            <a:ext cx="321469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82588" y="2540022"/>
            <a:ext cx="157876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PROCEDURAL MEMORY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3295641" y="2836487"/>
            <a:ext cx="25526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Maps relationships between problem-solving strategies, methods, and specific problem classes.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4002258" y="3599390"/>
            <a:ext cx="1139428" cy="260747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GRAPH DB: NEO4J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7135406" y="1427383"/>
            <a:ext cx="5500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3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566" y="2041745"/>
            <a:ext cx="285750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13925" y="2540022"/>
            <a:ext cx="13930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EPISODIC MEMORY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134081" y="2836487"/>
            <a:ext cx="255271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Preserves the complete history of problem-solving traces, including plans, execution, and reflections.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6597839" y="3599390"/>
            <a:ext cx="1625203" cy="260747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RELATIONAL DB: POSTGRES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08667"/>
            <a:ext cx="4171950" cy="376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ARCHITECTURAL STRENGTHS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8625" y="1471250"/>
            <a:ext cx="41076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17984" y="1471250"/>
            <a:ext cx="358259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Modular 9-engine framework ensures rigorous problem understanding and verified execution.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8625" y="2071325"/>
            <a:ext cx="41076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17984" y="2071325"/>
            <a:ext cx="358259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Hybrid memory hierarchy supports continuous learning from every problem-solving episode.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2671400"/>
            <a:ext cx="41076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17984" y="2671400"/>
            <a:ext cx="358259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Stateful, cyclic orchestration enables first-principles reasoning for novel, unseen challenges.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0" y="0"/>
            <a:ext cx="4114800" cy="2479188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1" name="Text 8"/>
          <p:cNvSpPr/>
          <p:nvPr/>
        </p:nvSpPr>
        <p:spPr>
          <a:xfrm>
            <a:off x="5693569" y="571500"/>
            <a:ext cx="3021806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0E1D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FUTURE OUTLOOK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93569" y="941189"/>
            <a:ext cx="30218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3B18A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Scaling the Procedural Memory graph to encompass cross-domain heuristics and optimizing the Reflection Engine with advanced Reinforcement Learning policies.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93569" y="1775529"/>
            <a:ext cx="30218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58815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POLYABRAIN: THE REASONING FRONTIER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2026-05-24T21:16:13Z</dcterms:created>
  <dcterms:modified xsi:type="dcterms:W3CDTF">2026-05-24T21:16:13Z</dcterms:modified>
</cp:coreProperties>
</file>